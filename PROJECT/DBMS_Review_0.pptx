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64" r:id="rId3"/>
    <p:sldId id="265" r:id="rId4"/>
    <p:sldId id="266" r:id="rId6"/>
    <p:sldId id="267"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01" autoAdjust="0"/>
    <p:restoredTop sz="94660"/>
  </p:normalViewPr>
  <p:slideViewPr>
    <p:cSldViewPr snapToGrid="0">
      <p:cViewPr varScale="1">
        <p:scale>
          <a:sx n="78" d="100"/>
          <a:sy n="78" d="100"/>
        </p:scale>
        <p:origin x="73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D0B7C1-73D0-45AC-8085-27C1597D3EBE}"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8D5F6B-4E5A-495A-8054-68FC7AA5FC72}" type="slidenum">
              <a:rPr lang="en-US" smtClean="0"/>
              <a:t>‹#›</a:t>
            </a:fld>
            <a:endParaRPr lang="en-US"/>
          </a:p>
        </p:txBody>
      </p:sp>
    </p:spTree>
    <p:extLst>
      <p:ext uri="{BB962C8B-B14F-4D97-AF65-F5344CB8AC3E}">
        <p14:creationId xmlns:p14="http://schemas.microsoft.com/office/powerpoint/2010/main" val="2700816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75d10e128c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 name="Google Shape;65;g275d10e128c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0987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E65AD-C2D7-D537-BE51-D48B5EED9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48EE6-1909-C288-0EA2-54FD69F485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4D8CC-882B-763A-3395-4B7DF9216E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87C733-AFEE-8DAE-6C1C-D55831FF7C50}"/>
              </a:ext>
            </a:extLst>
          </p:cNvPr>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4685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C4C6-BA26-A481-7C98-0E4CB5452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DF01E-219E-68AE-1E25-3609B03997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B0E95-08A0-B526-83E9-0E267F494D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178152-9F29-6727-417F-3605A1E5A68B}"/>
              </a:ext>
            </a:extLst>
          </p:cNvPr>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334994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E71B-48CC-8D99-842B-9A1538738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5C568-BBAE-5EEB-CDCA-947D4883A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85587-4701-744C-2741-6E8AD065E1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C61550-B0D4-6027-F165-9C9E47EFC21D}"/>
              </a:ext>
            </a:extLst>
          </p:cNvPr>
          <p:cNvSpPr>
            <a:spLocks noGrp="1"/>
          </p:cNvSpPr>
          <p:nvPr>
            <p:ph type="sldNum" sz="quarter" idx="5"/>
          </p:nvPr>
        </p:nvSpPr>
        <p:spPr/>
        <p:txBody>
          <a:bodyPr/>
          <a:lstStyle/>
          <a:p>
            <a:fld id="{54E4ADD7-897F-4F47-A317-DE24AB827DD3}" type="slidenum">
              <a:rPr lang="en-US" smtClean="0"/>
              <a:pPr/>
              <a:t>6</a:t>
            </a:fld>
            <a:endParaRPr lang="en-US"/>
          </a:p>
        </p:txBody>
      </p:sp>
    </p:spTree>
    <p:extLst>
      <p:ext uri="{BB962C8B-B14F-4D97-AF65-F5344CB8AC3E}">
        <p14:creationId xmlns:p14="http://schemas.microsoft.com/office/powerpoint/2010/main" val="363818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D7E5-7326-6E81-B2FA-425A9870B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7BA29-07EA-1E45-2CF7-8799B9F15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9DA59-89CF-8B95-13D2-68F50E8909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D5CA3C-E5AB-0E52-F55D-D79E7B4F0A5B}"/>
              </a:ext>
            </a:extLst>
          </p:cNvPr>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val="487607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181E997-8A1D-4341-9577-7F12B186FE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1100124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81E997-8A1D-4341-9577-7F12B186FE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1000138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1E997-8A1D-4341-9577-7F12B186FE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292639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181E997-8A1D-4341-9577-7F12B186FE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2629547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181E997-8A1D-4341-9577-7F12B186FE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1125605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81E997-8A1D-4341-9577-7F12B186FE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2464664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81E997-8A1D-4341-9577-7F12B186FE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712010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81E997-8A1D-4341-9577-7F12B186FE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3690698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81E997-8A1D-4341-9577-7F12B186FE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3977056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81E997-8A1D-4341-9577-7F12B186FE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3421400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81E997-8A1D-4341-9577-7F12B186FE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570DD-AFB6-49F2-A0B1-13C3583D2E1B}" type="slidenum">
              <a:rPr lang="en-US" smtClean="0"/>
              <a:t>‹#›</a:t>
            </a:fld>
            <a:endParaRPr lang="en-US"/>
          </a:p>
        </p:txBody>
      </p:sp>
    </p:spTree>
    <p:extLst>
      <p:ext uri="{BB962C8B-B14F-4D97-AF65-F5344CB8AC3E}">
        <p14:creationId xmlns:p14="http://schemas.microsoft.com/office/powerpoint/2010/main" val="1971252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50"/>
        <p:cNvGrpSpPr/>
        <p:nvPr/>
      </p:nvGrpSpPr>
      <p:grpSpPr>
        <a:xfrm>
          <a:off x="0" y="0"/>
          <a:ext cx="0" cy="0"/>
          <a:chOff x="0" y="0"/>
          <a:chExt cx="0" cy="0"/>
        </a:xfrm>
      </p:grpSpPr>
      <p:sp>
        <p:nvSpPr>
          <p:cNvPr id="51" name="Google Shape;51;p13"/>
          <p:cNvSpPr/>
          <p:nvPr/>
        </p:nvSpPr>
        <p:spPr>
          <a:xfrm>
            <a:off x="0" y="1"/>
            <a:ext cx="12192000" cy="4864500"/>
          </a:xfrm>
          <a:prstGeom prst="rect">
            <a:avLst/>
          </a:prstGeom>
          <a:solidFill>
            <a:srgbClr val="00336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 name="Google Shape;52;p13"/>
          <p:cNvSpPr txBox="1">
            <a:spLocks noGrp="1"/>
          </p:cNvSpPr>
          <p:nvPr>
            <p:ph type="ctrTitle"/>
          </p:nvPr>
        </p:nvSpPr>
        <p:spPr>
          <a:xfrm>
            <a:off x="835200" y="1252800"/>
            <a:ext cx="10848000" cy="1620000"/>
          </a:xfrm>
          <a:prstGeom prst="rect">
            <a:avLst/>
          </a:prstGeom>
          <a:noFill/>
          <a:ln>
            <a:noFill/>
          </a:ln>
        </p:spPr>
        <p:txBody>
          <a:bodyPr spcFirstLastPara="1" wrap="square" lIns="91425" tIns="45700" rIns="91425" bIns="45700" anchor="ctr" anchorCtr="0">
            <a:noAutofit/>
          </a:bodyPr>
          <a:lstStyle>
            <a:lvl1pPr lvl="0" algn="l" rtl="0">
              <a:lnSpc>
                <a:spcPct val="116666"/>
              </a:lnSpc>
              <a:spcBef>
                <a:spcPts val="0"/>
              </a:spcBef>
              <a:spcAft>
                <a:spcPts val="0"/>
              </a:spcAft>
              <a:buClr>
                <a:schemeClr val="lt1"/>
              </a:buClr>
              <a:buSzPts val="3600"/>
              <a:buFont typeface="Arial"/>
              <a:buNone/>
              <a:defRPr sz="3600" b="1">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 name="Google Shape;53;p13"/>
          <p:cNvSpPr txBox="1">
            <a:spLocks noGrp="1"/>
          </p:cNvSpPr>
          <p:nvPr>
            <p:ph type="subTitle" idx="1"/>
          </p:nvPr>
        </p:nvSpPr>
        <p:spPr>
          <a:xfrm>
            <a:off x="835200" y="3021178"/>
            <a:ext cx="10848000" cy="1602000"/>
          </a:xfrm>
          <a:prstGeom prst="rect">
            <a:avLst/>
          </a:prstGeom>
          <a:noFill/>
          <a:ln>
            <a:noFill/>
          </a:ln>
        </p:spPr>
        <p:txBody>
          <a:bodyPr spcFirstLastPara="1" wrap="square" lIns="91425" tIns="45700" rIns="91425" bIns="45700" anchor="b" anchorCtr="0">
            <a:noAutofit/>
          </a:bodyPr>
          <a:lstStyle>
            <a:lvl1pPr lvl="0" algn="l" rtl="0">
              <a:lnSpc>
                <a:spcPct val="91666"/>
              </a:lnSpc>
              <a:spcBef>
                <a:spcPts val="0"/>
              </a:spcBef>
              <a:spcAft>
                <a:spcPts val="0"/>
              </a:spcAft>
              <a:buClr>
                <a:schemeClr val="lt1"/>
              </a:buClr>
              <a:buSzPts val="2400"/>
              <a:buNone/>
              <a:defRPr sz="2400">
                <a:solidFill>
                  <a:schemeClr val="lt1"/>
                </a:solidFill>
              </a:defRPr>
            </a:lvl1pPr>
            <a:lvl2pPr lvl="1" algn="ctr" rtl="0">
              <a:lnSpc>
                <a:spcPct val="90000"/>
              </a:lnSpc>
              <a:spcBef>
                <a:spcPts val="500"/>
              </a:spcBef>
              <a:spcAft>
                <a:spcPts val="0"/>
              </a:spcAft>
              <a:buClr>
                <a:srgbClr val="888888"/>
              </a:buClr>
              <a:buSzPts val="2200"/>
              <a:buNone/>
              <a:defRPr>
                <a:solidFill>
                  <a:srgbClr val="888888"/>
                </a:solidFill>
              </a:defRPr>
            </a:lvl2pPr>
            <a:lvl3pPr lvl="2" algn="ctr" rtl="0">
              <a:lnSpc>
                <a:spcPct val="90000"/>
              </a:lnSpc>
              <a:spcBef>
                <a:spcPts val="500"/>
              </a:spcBef>
              <a:spcAft>
                <a:spcPts val="0"/>
              </a:spcAft>
              <a:buClr>
                <a:srgbClr val="888888"/>
              </a:buClr>
              <a:buSzPts val="2000"/>
              <a:buNone/>
              <a:defRPr>
                <a:solidFill>
                  <a:srgbClr val="888888"/>
                </a:solidFill>
              </a:defRPr>
            </a:lvl3pPr>
            <a:lvl4pPr lvl="3" algn="ctr" rtl="0">
              <a:lnSpc>
                <a:spcPct val="90000"/>
              </a:lnSpc>
              <a:spcBef>
                <a:spcPts val="500"/>
              </a:spcBef>
              <a:spcAft>
                <a:spcPts val="0"/>
              </a:spcAft>
              <a:buClr>
                <a:srgbClr val="888888"/>
              </a:buClr>
              <a:buSzPts val="1800"/>
              <a:buNone/>
              <a:defRPr>
                <a:solidFill>
                  <a:srgbClr val="888888"/>
                </a:solidFill>
              </a:defRPr>
            </a:lvl4pPr>
            <a:lvl5pPr lvl="4" algn="ctr" rtl="0">
              <a:lnSpc>
                <a:spcPct val="90000"/>
              </a:lnSpc>
              <a:spcBef>
                <a:spcPts val="500"/>
              </a:spcBef>
              <a:spcAft>
                <a:spcPts val="0"/>
              </a:spcAft>
              <a:buClr>
                <a:srgbClr val="888888"/>
              </a:buClr>
              <a:buSzPts val="1800"/>
              <a:buNone/>
              <a:defRPr>
                <a:solidFill>
                  <a:srgbClr val="888888"/>
                </a:solidFill>
              </a:defRPr>
            </a:lvl5pPr>
            <a:lvl6pPr lvl="5" algn="ctr" rtl="0">
              <a:lnSpc>
                <a:spcPct val="90000"/>
              </a:lnSpc>
              <a:spcBef>
                <a:spcPts val="500"/>
              </a:spcBef>
              <a:spcAft>
                <a:spcPts val="0"/>
              </a:spcAft>
              <a:buClr>
                <a:srgbClr val="888888"/>
              </a:buClr>
              <a:buSzPts val="1800"/>
              <a:buNone/>
              <a:defRPr>
                <a:solidFill>
                  <a:srgbClr val="888888"/>
                </a:solidFill>
              </a:defRPr>
            </a:lvl6pPr>
            <a:lvl7pPr lvl="6" algn="ctr" rtl="0">
              <a:lnSpc>
                <a:spcPct val="90000"/>
              </a:lnSpc>
              <a:spcBef>
                <a:spcPts val="500"/>
              </a:spcBef>
              <a:spcAft>
                <a:spcPts val="0"/>
              </a:spcAft>
              <a:buClr>
                <a:srgbClr val="888888"/>
              </a:buClr>
              <a:buSzPts val="1800"/>
              <a:buNone/>
              <a:defRPr>
                <a:solidFill>
                  <a:srgbClr val="888888"/>
                </a:solidFill>
              </a:defRPr>
            </a:lvl7pPr>
            <a:lvl8pPr lvl="7" algn="ctr" rtl="0">
              <a:lnSpc>
                <a:spcPct val="90000"/>
              </a:lnSpc>
              <a:spcBef>
                <a:spcPts val="500"/>
              </a:spcBef>
              <a:spcAft>
                <a:spcPts val="0"/>
              </a:spcAft>
              <a:buClr>
                <a:srgbClr val="888888"/>
              </a:buClr>
              <a:buSzPts val="1800"/>
              <a:buNone/>
              <a:defRPr>
                <a:solidFill>
                  <a:srgbClr val="888888"/>
                </a:solidFill>
              </a:defRPr>
            </a:lvl8pPr>
            <a:lvl9pPr lvl="8" algn="ctr" rtl="0">
              <a:lnSpc>
                <a:spcPct val="90000"/>
              </a:lnSpc>
              <a:spcBef>
                <a:spcPts val="500"/>
              </a:spcBef>
              <a:spcAft>
                <a:spcPts val="0"/>
              </a:spcAft>
              <a:buClr>
                <a:srgbClr val="888888"/>
              </a:buClr>
              <a:buSzPts val="1800"/>
              <a:buNone/>
              <a:defRPr>
                <a:solidFill>
                  <a:srgbClr val="888888"/>
                </a:solidFill>
              </a:defRPr>
            </a:lvl9pPr>
          </a:lstStyle>
          <a:p>
            <a:endParaRPr/>
          </a:p>
        </p:txBody>
      </p:sp>
      <p:sp>
        <p:nvSpPr>
          <p:cNvPr id="54" name="Google Shape;54;p13"/>
          <p:cNvSpPr/>
          <p:nvPr/>
        </p:nvSpPr>
        <p:spPr>
          <a:xfrm>
            <a:off x="9181630" y="5012479"/>
            <a:ext cx="1407133" cy="972503"/>
          </a:xfrm>
          <a:prstGeom prst="rect">
            <a:avLst/>
          </a:prstGeom>
          <a:noFill/>
          <a:ln>
            <a:noFill/>
          </a:ln>
        </p:spPr>
      </p:sp>
    </p:spTree>
    <p:extLst>
      <p:ext uri="{BB962C8B-B14F-4D97-AF65-F5344CB8AC3E}">
        <p14:creationId xmlns:p14="http://schemas.microsoft.com/office/powerpoint/2010/main" val="28241388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81E997-8A1D-4341-9577-7F12B186FEC4}" type="datetimeFigureOut">
              <a:rPr lang="en-US" smtClean="0"/>
              <a:t>10/3/2026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3570DD-AFB6-49F2-A0B1-13C3583D2E1B}" type="slidenum">
              <a:rPr lang="en-US" smtClean="0"/>
              <a:t>‹#›</a:t>
            </a:fld>
            <a:endParaRPr lang="en-US"/>
          </a:p>
        </p:txBody>
      </p:sp>
    </p:spTree>
    <p:extLst>
      <p:ext uri="{BB962C8B-B14F-4D97-AF65-F5344CB8AC3E}">
        <p14:creationId xmlns:p14="http://schemas.microsoft.com/office/powerpoint/2010/main" val="1531072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ctrTitle"/>
          </p:nvPr>
        </p:nvSpPr>
        <p:spPr>
          <a:xfrm>
            <a:off x="1112784" y="1185639"/>
            <a:ext cx="9966431" cy="2371377"/>
          </a:xfrm>
          <a:prstGeom prst="rect">
            <a:avLst/>
          </a:prstGeom>
          <a:noFill/>
          <a:ln>
            <a:noFill/>
          </a:ln>
        </p:spPr>
        <p:txBody>
          <a:bodyPr spcFirstLastPara="1" vert="horz" wrap="square" lIns="91425" tIns="45700" rIns="91425" bIns="45700" rtlCol="0" anchor="ctr" anchorCtr="0">
            <a:noAutofit/>
          </a:bodyPr>
          <a:lstStyle/>
          <a:p>
            <a:pPr algn="ctr">
              <a:buClr>
                <a:schemeClr val="dk1"/>
              </a:buClr>
              <a:buSzPts val="1100"/>
            </a:pPr>
            <a:r>
              <a:rPr lang="en-US" sz="4000" dirty="0"/>
              <a:t>AI-Based Network Intrusion Detection and Threat Intelligence Dashboard</a:t>
            </a:r>
            <a:endParaRPr sz="4000" b="0" dirty="0">
              <a:solidFill>
                <a:srgbClr val="FFFFFF"/>
              </a:solidFill>
            </a:endParaRPr>
          </a:p>
        </p:txBody>
      </p:sp>
      <p:sp>
        <p:nvSpPr>
          <p:cNvPr id="68" name="Google Shape;68;p15"/>
          <p:cNvSpPr txBox="1"/>
          <p:nvPr/>
        </p:nvSpPr>
        <p:spPr>
          <a:xfrm>
            <a:off x="4658706" y="2731626"/>
            <a:ext cx="8901900" cy="2280000"/>
          </a:xfrm>
          <a:prstGeom prst="rect">
            <a:avLst/>
          </a:prstGeom>
          <a:noFill/>
          <a:ln>
            <a:noFill/>
          </a:ln>
        </p:spPr>
        <p:txBody>
          <a:bodyPr spcFirstLastPara="1" wrap="square" lIns="91425" tIns="91425" rIns="91425" bIns="91425" anchor="t" anchorCtr="0">
            <a:noAutofit/>
          </a:bodyPr>
          <a:lstStyle/>
          <a:p>
            <a:pPr algn="ctr"/>
            <a:endParaRPr sz="2600" dirty="0">
              <a:solidFill>
                <a:srgbClr val="B6D7A8"/>
              </a:solidFill>
            </a:endParaRPr>
          </a:p>
          <a:p>
            <a:r>
              <a:rPr lang="en" sz="2600" dirty="0">
                <a:solidFill>
                  <a:srgbClr val="B6D7A8"/>
                </a:solidFill>
              </a:rPr>
              <a:t>    					                                      </a:t>
            </a:r>
            <a:endParaRPr sz="2600" dirty="0">
              <a:solidFill>
                <a:srgbClr val="B6D7A8"/>
              </a:solidFill>
            </a:endParaRPr>
          </a:p>
        </p:txBody>
      </p:sp>
      <p:pic>
        <p:nvPicPr>
          <p:cNvPr id="3" name="Picture 2">
            <a:extLst>
              <a:ext uri="{FF2B5EF4-FFF2-40B4-BE49-F238E27FC236}">
                <a16:creationId xmlns:a16="http://schemas.microsoft.com/office/drawing/2014/main" id="{A5AF0E96-CA5F-1106-D0E2-DF92B92C168C}"/>
              </a:ext>
            </a:extLst>
          </p:cNvPr>
          <p:cNvPicPr>
            <a:picLocks noChangeAspect="1"/>
          </p:cNvPicPr>
          <p:nvPr/>
        </p:nvPicPr>
        <p:blipFill>
          <a:blip r:embed="rId3"/>
          <a:stretch>
            <a:fillRect/>
          </a:stretch>
        </p:blipFill>
        <p:spPr>
          <a:xfrm>
            <a:off x="4050665" y="5011626"/>
            <a:ext cx="4396844" cy="1545987"/>
          </a:xfrm>
          <a:prstGeom prst="rect">
            <a:avLst/>
          </a:prstGeom>
        </p:spPr>
      </p:pic>
      <p:sp>
        <p:nvSpPr>
          <p:cNvPr id="4" name="Rectangle 3">
            <a:extLst>
              <a:ext uri="{FF2B5EF4-FFF2-40B4-BE49-F238E27FC236}">
                <a16:creationId xmlns:a16="http://schemas.microsoft.com/office/drawing/2014/main" id="{68C1F363-E253-DB3D-683A-0390AEE1F7BA}"/>
              </a:ext>
            </a:extLst>
          </p:cNvPr>
          <p:cNvSpPr/>
          <p:nvPr/>
        </p:nvSpPr>
        <p:spPr>
          <a:xfrm>
            <a:off x="111760" y="5241919"/>
            <a:ext cx="3596640" cy="1382402"/>
          </a:xfrm>
          <a:prstGeom prst="rect">
            <a:avLst/>
          </a:prstGeom>
          <a:ln>
            <a:noFill/>
          </a:ln>
        </p:spPr>
        <p:txBody>
          <a:bodyPr vert="horz" lIns="0" tIns="0" rIns="0" bIns="0" rtlCol="0">
            <a:noAutofit/>
          </a:bodyPr>
          <a:lstStyle/>
          <a:p>
            <a:pPr marL="527050" indent="-6350">
              <a:lnSpc>
                <a:spcPct val="107000"/>
              </a:lnSpc>
              <a:spcAft>
                <a:spcPts val="800"/>
              </a:spcAft>
              <a:buNone/>
            </a:pPr>
            <a:r>
              <a:rPr lang="en-US" sz="1800" kern="100" dirty="0">
                <a:solidFill>
                  <a:srgbClr val="000000"/>
                </a:solidFill>
                <a:effectLst/>
                <a:latin typeface="Calibri" panose="020F0502020204030204" pitchFamily="34" charset="0"/>
                <a:ea typeface="Calibri" panose="020F0502020204030204" pitchFamily="34" charset="0"/>
              </a:rPr>
              <a:t>SRIVALLI-2520090040</a:t>
            </a:r>
          </a:p>
          <a:p>
            <a:pPr marL="527050" indent="-6350">
              <a:lnSpc>
                <a:spcPct val="107000"/>
              </a:lnSpc>
              <a:spcAft>
                <a:spcPts val="800"/>
              </a:spcAft>
              <a:buNone/>
            </a:pPr>
            <a:r>
              <a:rPr lang="en-US" kern="100" dirty="0">
                <a:solidFill>
                  <a:srgbClr val="000000"/>
                </a:solidFill>
                <a:latin typeface="Calibri" panose="020F0502020204030204" pitchFamily="34" charset="0"/>
                <a:ea typeface="Calibri" panose="020F0502020204030204" pitchFamily="34" charset="0"/>
              </a:rPr>
              <a:t>PAVANI-2520090041</a:t>
            </a:r>
          </a:p>
          <a:p>
            <a:pPr marL="527050" indent="-6350">
              <a:lnSpc>
                <a:spcPct val="107000"/>
              </a:lnSpc>
              <a:spcAft>
                <a:spcPts val="800"/>
              </a:spcAft>
              <a:buNone/>
            </a:pPr>
            <a:r>
              <a:rPr lang="en-US" sz="1800" kern="100" dirty="0">
                <a:solidFill>
                  <a:srgbClr val="000000"/>
                </a:solidFill>
                <a:effectLst/>
                <a:latin typeface="Calibri" panose="020F0502020204030204" pitchFamily="34" charset="0"/>
                <a:ea typeface="Calibri" panose="020F0502020204030204" pitchFamily="34" charset="0"/>
              </a:rPr>
              <a:t>KAVYA SREE - 250090143</a:t>
            </a:r>
            <a:endParaRPr lang="en-IN" sz="1800" kern="100" dirty="0">
              <a:solidFill>
                <a:srgbClr val="000000"/>
              </a:solidFill>
              <a:effectLst/>
              <a:latin typeface="Calibri" panose="020F0502020204030204" pitchFamily="34" charset="0"/>
              <a:ea typeface="Calibri" panose="020F0502020204030204" pitchFamily="34" charset="0"/>
            </a:endParaRPr>
          </a:p>
        </p:txBody>
      </p:sp>
      <p:sp>
        <p:nvSpPr>
          <p:cNvPr id="69" name="TextBox 68"/>
          <p:cNvSpPr txBox="1"/>
          <p:nvPr/>
        </p:nvSpPr>
        <p:spPr>
          <a:xfrm>
            <a:off x="1112784" y="3500000"/>
            <a:ext cx="9966431" cy="600000"/>
          </a:xfrm>
          <a:prstGeom prst="rect">
            <a:avLst/>
          </a:prstGeom>
          <a:noFill/>
        </p:spPr>
        <p:txBody>
          <a:bodyPr wrap="none">
            <a:spAutoFit/>
          </a:bodyPr>
          <a:lstStyle/>
          <a:p>
            <a:pPr algn="ctr"/>
            <a:r>
              <a:rPr sz="2800" b="1">
                <a:solidFill>
                  <a:srgbClr val="FFFFFF"/>
                </a:solidFill>
              </a:rPr>
              <a:t>REVIEW 0</a:t>
            </a:r>
          </a:p>
        </p:txBody>
      </p:sp>
    </p:spTree>
    <p:extLst>
      <p:ext uri="{BB962C8B-B14F-4D97-AF65-F5344CB8AC3E}">
        <p14:creationId xmlns:p14="http://schemas.microsoft.com/office/powerpoint/2010/main" val="3261885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a:extLst>
              <a:ext uri="{FF2B5EF4-FFF2-40B4-BE49-F238E27FC236}">
                <a16:creationId xmlns:a16="http://schemas.microsoft.com/office/drawing/2014/main" id="{965720C5-B79A-235D-C005-B0F6F326BD7F}"/>
              </a:ext>
            </a:extLst>
          </p:cNvPr>
          <p:cNvSpPr>
            <a:spLocks noGrp="1"/>
          </p:cNvSpPr>
          <p:nvPr>
            <p:ph type="sldNum" sz="quarter" idx="12"/>
          </p:nvPr>
        </p:nvSpPr>
        <p:spPr>
          <a:xfrm>
            <a:off x="5690490" y="6291139"/>
            <a:ext cx="811019" cy="503578"/>
          </a:xfrm>
        </p:spPr>
        <p:txBody>
          <a:bodyPr/>
          <a:lstStyle/>
          <a:p>
            <a:pPr>
              <a:spcAft>
                <a:spcPts val="600"/>
              </a:spcAft>
            </a:pPr>
            <a:fld id="{CBABCCC1-BF11-4F37-963E-1BCD5B23FD72}" type="slidenum">
              <a:rPr lang="en-IN" smtClean="0"/>
              <a:pPr>
                <a:spcAft>
                  <a:spcPts val="600"/>
                </a:spcAft>
              </a:pPr>
              <a:t>2</a:t>
            </a:fld>
            <a:endParaRPr lang="en-IN"/>
          </a:p>
        </p:txBody>
      </p:sp>
      <p:pic>
        <p:nvPicPr>
          <p:cNvPr id="3" name="Picture 2">
            <a:extLst>
              <a:ext uri="{FF2B5EF4-FFF2-40B4-BE49-F238E27FC236}">
                <a16:creationId xmlns:a16="http://schemas.microsoft.com/office/drawing/2014/main" id="{751FA51F-763C-4FF2-3BB3-17A0191739C2}"/>
              </a:ext>
            </a:extLst>
          </p:cNvPr>
          <p:cNvPicPr>
            <a:picLocks noChangeAspect="1"/>
          </p:cNvPicPr>
          <p:nvPr/>
        </p:nvPicPr>
        <p:blipFill>
          <a:blip r:embed="rId3"/>
          <a:stretch>
            <a:fillRect/>
          </a:stretch>
        </p:blipFill>
        <p:spPr>
          <a:xfrm>
            <a:off x="0" y="1"/>
            <a:ext cx="1514650" cy="600076"/>
          </a:xfrm>
          <a:prstGeom prst="rect">
            <a:avLst/>
          </a:prstGeom>
        </p:spPr>
      </p:pic>
      <p:sp>
        <p:nvSpPr>
          <p:cNvPr id="8" name="TextBox 7">
            <a:extLst>
              <a:ext uri="{FF2B5EF4-FFF2-40B4-BE49-F238E27FC236}">
                <a16:creationId xmlns:a16="http://schemas.microsoft.com/office/drawing/2014/main" id="{DB4E90A0-52CB-E52C-4C66-29FB7DD20143}"/>
              </a:ext>
            </a:extLst>
          </p:cNvPr>
          <p:cNvSpPr txBox="1"/>
          <p:nvPr/>
        </p:nvSpPr>
        <p:spPr>
          <a:xfrm>
            <a:off x="757325" y="2122944"/>
            <a:ext cx="10158984" cy="313932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AI-Based Network Intrusion Detection and Threat Intelligence Dashboard is a database driven cybersecurity system designed to identify, analyze, store, and visualize potential network security threats. With the rapid growth of digital networks, organizations generate large volumes of network traffic, making it difficult to manually detect malicious activities and security breaches. The proposed system addresses this challenge by integrating Artificial Intelligence (AI), Machine Learning (ML), Database Management Systems (DBMS), and threat intelligence into a unified platform. The system collects and analyzes network traffic and security-related data to identify abnormal patterns and potential intrusions such as unauthorized access, suspicious activities, and malicious network behavior. Machine learning techniques are used to classify network activities as normal or potentially harmful. The detected threats, including source and destination IP addresses, attack types, timestamps, severity levels, and alert details, are securely stored in a centralized relational database. </a:t>
            </a:r>
          </a:p>
        </p:txBody>
      </p:sp>
      <p:sp>
        <p:nvSpPr>
          <p:cNvPr id="9" name="TextBox 8">
            <a:extLst>
              <a:ext uri="{FF2B5EF4-FFF2-40B4-BE49-F238E27FC236}">
                <a16:creationId xmlns:a16="http://schemas.microsoft.com/office/drawing/2014/main" id="{B093068F-3F47-98A7-7235-4578891E45A1}"/>
              </a:ext>
            </a:extLst>
          </p:cNvPr>
          <p:cNvSpPr txBox="1"/>
          <p:nvPr/>
        </p:nvSpPr>
        <p:spPr>
          <a:xfrm>
            <a:off x="4260451" y="653625"/>
            <a:ext cx="2860078" cy="707886"/>
          </a:xfrm>
          <a:prstGeom prst="rect">
            <a:avLst/>
          </a:prstGeom>
          <a:noFill/>
        </p:spPr>
        <p:txBody>
          <a:bodyPr wrap="none" rtlCol="0">
            <a:spAutoFit/>
          </a:bodyPr>
          <a:lstStyle/>
          <a:p>
            <a:pPr algn="ctr"/>
            <a:r>
              <a:rPr lang="en-IN" sz="4000" dirty="0">
                <a:latin typeface="Times New Roman" panose="02020603050405020304" pitchFamily="18" charset="0"/>
                <a:cs typeface="Times New Roman" panose="02020603050405020304" pitchFamily="18" charset="0"/>
              </a:rPr>
              <a:t>ABSTRACT</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55767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B7EAC-9A6A-9A1B-306D-6BD725B8AA07}"/>
            </a:ext>
          </a:extLst>
        </p:cNvPr>
        <p:cNvGrpSpPr/>
        <p:nvPr/>
      </p:nvGrpSpPr>
      <p:grpSpPr>
        <a:xfrm>
          <a:off x="0" y="0"/>
          <a:ext cx="0" cy="0"/>
          <a:chOff x="0" y="0"/>
          <a:chExt cx="0" cy="0"/>
        </a:xfrm>
      </p:grpSpPr>
      <p:sp>
        <p:nvSpPr>
          <p:cNvPr id="58" name="Slide Number Placeholder 4">
            <a:extLst>
              <a:ext uri="{FF2B5EF4-FFF2-40B4-BE49-F238E27FC236}">
                <a16:creationId xmlns:a16="http://schemas.microsoft.com/office/drawing/2014/main" id="{83F28D4F-5DFD-CD74-FA05-DBD2427A3992}"/>
              </a:ext>
            </a:extLst>
          </p:cNvPr>
          <p:cNvSpPr>
            <a:spLocks noGrp="1"/>
          </p:cNvSpPr>
          <p:nvPr>
            <p:ph type="sldNum" sz="quarter" idx="12"/>
          </p:nvPr>
        </p:nvSpPr>
        <p:spPr>
          <a:xfrm>
            <a:off x="5690490" y="6291139"/>
            <a:ext cx="811019" cy="503578"/>
          </a:xfrm>
        </p:spPr>
        <p:txBody>
          <a:bodyPr/>
          <a:lstStyle/>
          <a:p>
            <a:pPr>
              <a:spcAft>
                <a:spcPts val="600"/>
              </a:spcAft>
            </a:pPr>
            <a:fld id="{CBABCCC1-BF11-4F37-963E-1BCD5B23FD72}" type="slidenum">
              <a:rPr lang="en-IN" smtClean="0"/>
              <a:pPr>
                <a:spcAft>
                  <a:spcPts val="600"/>
                </a:spcAft>
              </a:pPr>
              <a:t>3</a:t>
            </a:fld>
            <a:endParaRPr lang="en-IN"/>
          </a:p>
        </p:txBody>
      </p:sp>
      <p:pic>
        <p:nvPicPr>
          <p:cNvPr id="3" name="Picture 2">
            <a:extLst>
              <a:ext uri="{FF2B5EF4-FFF2-40B4-BE49-F238E27FC236}">
                <a16:creationId xmlns:a16="http://schemas.microsoft.com/office/drawing/2014/main" id="{B750A17C-D2FD-4EE5-CA89-51429A40150E}"/>
              </a:ext>
            </a:extLst>
          </p:cNvPr>
          <p:cNvPicPr>
            <a:picLocks noChangeAspect="1"/>
          </p:cNvPicPr>
          <p:nvPr/>
        </p:nvPicPr>
        <p:blipFill>
          <a:blip r:embed="rId3"/>
          <a:stretch>
            <a:fillRect/>
          </a:stretch>
        </p:blipFill>
        <p:spPr>
          <a:xfrm>
            <a:off x="0" y="1"/>
            <a:ext cx="1514650" cy="600076"/>
          </a:xfrm>
          <a:prstGeom prst="rect">
            <a:avLst/>
          </a:prstGeom>
        </p:spPr>
      </p:pic>
      <p:sp>
        <p:nvSpPr>
          <p:cNvPr id="4" name="TextBox 3">
            <a:extLst>
              <a:ext uri="{FF2B5EF4-FFF2-40B4-BE49-F238E27FC236}">
                <a16:creationId xmlns:a16="http://schemas.microsoft.com/office/drawing/2014/main" id="{8F2214D0-52D7-438C-6E7A-B92E85E84323}"/>
              </a:ext>
            </a:extLst>
          </p:cNvPr>
          <p:cNvSpPr txBox="1"/>
          <p:nvPr/>
        </p:nvSpPr>
        <p:spPr>
          <a:xfrm>
            <a:off x="1130807" y="1955673"/>
            <a:ext cx="9930384" cy="3416320"/>
          </a:xfrm>
          <a:prstGeom prst="rect">
            <a:avLst/>
          </a:prstGeom>
          <a:noFill/>
        </p:spPr>
        <p:txBody>
          <a:bodyPr wrap="square">
            <a:spAutoFit/>
          </a:bodyPr>
          <a:lstStyle/>
          <a:p>
            <a:pPr algn="just">
              <a:buNone/>
            </a:pPr>
            <a:r>
              <a:rPr lang="en-US" dirty="0"/>
              <a:t>In today's digital world, computer networks are constantly exposed to cyber threats such as malware, phishing attacks, unauthorized access, and data breaches. Traditional security mechanisms often struggle to detect sophisticated and evolving attacks in real time. To address these challenges, an AI-Based Network Intrusion Detection and Threat Intelligence Dashboard is developed to monitor network activities, identify suspicious behavior, and provide actionable threat intelligence.</a:t>
            </a:r>
            <a:br>
              <a:rPr lang="en-US" dirty="0"/>
            </a:br>
            <a:r>
              <a:rPr lang="en-US" dirty="0"/>
              <a:t>This system uses Artificial Intelligence and Machine Learning techniques to analyze network traffic and detect potential intrusions with higher accuracy. The dashboard presents real-time alerts, attack statistics, threat trends, and security insights in an easy-to-understand visual format. It helps network administrators quickly identify threats, respond to incidents, and improve overall network security.</a:t>
            </a:r>
            <a:br>
              <a:rPr lang="en-US" dirty="0"/>
            </a:br>
            <a:r>
              <a:rPr lang="en-US" dirty="0"/>
              <a:t>The project aims to enhance cybersecurity by combining intrusion detection capabilities with threat intelligence, enabling organizations to proactively defend their networks against emerging cyber attacks and minimize potential risks.</a:t>
            </a:r>
          </a:p>
        </p:txBody>
      </p:sp>
      <p:sp>
        <p:nvSpPr>
          <p:cNvPr id="5" name="TextBox 4">
            <a:extLst>
              <a:ext uri="{FF2B5EF4-FFF2-40B4-BE49-F238E27FC236}">
                <a16:creationId xmlns:a16="http://schemas.microsoft.com/office/drawing/2014/main" id="{F7C29DC9-5DA3-8D55-9A9B-1C208C64B1D3}"/>
              </a:ext>
            </a:extLst>
          </p:cNvPr>
          <p:cNvSpPr txBox="1"/>
          <p:nvPr/>
        </p:nvSpPr>
        <p:spPr>
          <a:xfrm>
            <a:off x="3771796" y="1118823"/>
            <a:ext cx="341538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818380"/>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37909-1796-5D55-EDB8-6C8F2056F1D9}"/>
            </a:ext>
          </a:extLst>
        </p:cNvPr>
        <p:cNvGrpSpPr/>
        <p:nvPr/>
      </p:nvGrpSpPr>
      <p:grpSpPr>
        <a:xfrm>
          <a:off x="0" y="0"/>
          <a:ext cx="0" cy="0"/>
          <a:chOff x="0" y="0"/>
          <a:chExt cx="0" cy="0"/>
        </a:xfrm>
      </p:grpSpPr>
      <p:sp>
        <p:nvSpPr>
          <p:cNvPr id="58" name="Slide Number Placeholder 4">
            <a:extLst>
              <a:ext uri="{FF2B5EF4-FFF2-40B4-BE49-F238E27FC236}">
                <a16:creationId xmlns:a16="http://schemas.microsoft.com/office/drawing/2014/main" id="{BD232852-9009-4253-159E-E6D106CDAE6C}"/>
              </a:ext>
            </a:extLst>
          </p:cNvPr>
          <p:cNvSpPr>
            <a:spLocks noGrp="1"/>
          </p:cNvSpPr>
          <p:nvPr>
            <p:ph type="sldNum" sz="quarter" idx="12"/>
          </p:nvPr>
        </p:nvSpPr>
        <p:spPr>
          <a:xfrm>
            <a:off x="5690490" y="6291139"/>
            <a:ext cx="811019" cy="503578"/>
          </a:xfrm>
        </p:spPr>
        <p:txBody>
          <a:bodyPr/>
          <a:lstStyle/>
          <a:p>
            <a:pPr>
              <a:spcAft>
                <a:spcPts val="600"/>
              </a:spcAft>
            </a:pPr>
            <a:fld id="{CBABCCC1-BF11-4F37-963E-1BCD5B23FD72}" type="slidenum">
              <a:rPr lang="en-IN" smtClean="0"/>
              <a:pPr>
                <a:spcAft>
                  <a:spcPts val="600"/>
                </a:spcAft>
              </a:pPr>
              <a:t>5</a:t>
            </a:fld>
            <a:endParaRPr lang="en-IN"/>
          </a:p>
        </p:txBody>
      </p:sp>
      <p:pic>
        <p:nvPicPr>
          <p:cNvPr id="3" name="Picture 2">
            <a:extLst>
              <a:ext uri="{FF2B5EF4-FFF2-40B4-BE49-F238E27FC236}">
                <a16:creationId xmlns:a16="http://schemas.microsoft.com/office/drawing/2014/main" id="{0937B21F-42E6-685F-5760-B9324BA499B2}"/>
              </a:ext>
            </a:extLst>
          </p:cNvPr>
          <p:cNvPicPr>
            <a:picLocks noChangeAspect="1"/>
          </p:cNvPicPr>
          <p:nvPr/>
        </p:nvPicPr>
        <p:blipFill>
          <a:blip r:embed="rId3"/>
          <a:stretch>
            <a:fillRect/>
          </a:stretch>
        </p:blipFill>
        <p:spPr>
          <a:xfrm>
            <a:off x="0" y="1"/>
            <a:ext cx="1514650" cy="600076"/>
          </a:xfrm>
          <a:prstGeom prst="rect">
            <a:avLst/>
          </a:prstGeom>
        </p:spPr>
      </p:pic>
      <p:sp>
        <p:nvSpPr>
          <p:cNvPr id="4" name="TextBox 3">
            <a:extLst>
              <a:ext uri="{FF2B5EF4-FFF2-40B4-BE49-F238E27FC236}">
                <a16:creationId xmlns:a16="http://schemas.microsoft.com/office/drawing/2014/main" id="{13EB8C4E-E6E1-452B-9A73-0F397FECF335}"/>
              </a:ext>
            </a:extLst>
          </p:cNvPr>
          <p:cNvSpPr txBox="1"/>
          <p:nvPr/>
        </p:nvSpPr>
        <p:spPr>
          <a:xfrm>
            <a:off x="1277111" y="1519672"/>
            <a:ext cx="9637776" cy="4619854"/>
          </a:xfrm>
          <a:prstGeom prst="rect">
            <a:avLst/>
          </a:prstGeom>
          <a:noFill/>
        </p:spPr>
        <p:txBody>
          <a:bodyPr wrap="square">
            <a:spAutoFit/>
          </a:bodyPr>
          <a:lstStyle/>
          <a:p>
            <a:pPr>
              <a:lnSpc>
                <a:spcPct val="150000"/>
              </a:lnSpc>
              <a:buNone/>
            </a:pPr>
            <a:r>
              <a:rPr lang="en-US" b="1" dirty="0"/>
              <a:t>Problem Statement</a:t>
            </a:r>
            <a:br>
              <a:rPr lang="en-US" dirty="0"/>
            </a:br>
            <a:r>
              <a:rPr lang="en-US" dirty="0"/>
              <a:t>Modern networks face a growing number of cyber attacks such as malware, phishing, and unauthorized access. Traditional security systems often fail to detect advanced and unknown threats in real time. Therefore, an intelligent system is required to monitor network traffic, detect intrusions, and provide threat intelligence through a centralized dashboard.</a:t>
            </a:r>
            <a:br>
              <a:rPr lang="en-US" dirty="0"/>
            </a:br>
            <a:r>
              <a:rPr lang="en-US" b="1" dirty="0"/>
              <a:t>Objectives</a:t>
            </a:r>
            <a:br>
              <a:rPr lang="en-US" dirty="0"/>
            </a:br>
            <a:r>
              <a:rPr lang="en-US" dirty="0"/>
              <a:t>- Detect network intrusions using AI and Machine Learning techniques.</a:t>
            </a:r>
            <a:br>
              <a:rPr lang="en-US" dirty="0"/>
            </a:br>
            <a:r>
              <a:rPr lang="en-US" dirty="0"/>
              <a:t>- Monitor network traffic in real time.</a:t>
            </a:r>
            <a:br>
              <a:rPr lang="en-US" dirty="0"/>
            </a:br>
            <a:r>
              <a:rPr lang="en-US" dirty="0"/>
              <a:t>- Generate alerts for suspicious activities.</a:t>
            </a:r>
            <a:br>
              <a:rPr lang="en-US" dirty="0"/>
            </a:br>
            <a:r>
              <a:rPr lang="en-US" dirty="0"/>
              <a:t>- Visualize attack statistics and threat information through a dashboard.</a:t>
            </a:r>
            <a:br>
              <a:rPr lang="en-US" dirty="0"/>
            </a:br>
            <a:r>
              <a:rPr lang="en-US" dirty="0"/>
              <a:t>- Improve network security and incident response.</a:t>
            </a:r>
          </a:p>
        </p:txBody>
      </p:sp>
      <p:sp>
        <p:nvSpPr>
          <p:cNvPr id="5" name="TextBox 4">
            <a:extLst>
              <a:ext uri="{FF2B5EF4-FFF2-40B4-BE49-F238E27FC236}">
                <a16:creationId xmlns:a16="http://schemas.microsoft.com/office/drawing/2014/main" id="{BA010267-0159-DBB8-BACE-AD1657FB35F2}"/>
              </a:ext>
            </a:extLst>
          </p:cNvPr>
          <p:cNvSpPr txBox="1"/>
          <p:nvPr/>
        </p:nvSpPr>
        <p:spPr>
          <a:xfrm>
            <a:off x="3315064" y="600077"/>
            <a:ext cx="4750852"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Problem Statement and Objectives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477648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34F06-38F7-F576-C822-A8B87ADCEE71}"/>
            </a:ext>
          </a:extLst>
        </p:cNvPr>
        <p:cNvGrpSpPr/>
        <p:nvPr/>
      </p:nvGrpSpPr>
      <p:grpSpPr>
        <a:xfrm>
          <a:off x="0" y="0"/>
          <a:ext cx="0" cy="0"/>
          <a:chOff x="0" y="0"/>
          <a:chExt cx="0" cy="0"/>
        </a:xfrm>
      </p:grpSpPr>
      <p:sp>
        <p:nvSpPr>
          <p:cNvPr id="58" name="Slide Number Placeholder 4">
            <a:extLst>
              <a:ext uri="{FF2B5EF4-FFF2-40B4-BE49-F238E27FC236}">
                <a16:creationId xmlns:a16="http://schemas.microsoft.com/office/drawing/2014/main" id="{B8DE0810-7D31-236E-6266-CEE93BFE263D}"/>
              </a:ext>
            </a:extLst>
          </p:cNvPr>
          <p:cNvSpPr>
            <a:spLocks noGrp="1"/>
          </p:cNvSpPr>
          <p:nvPr>
            <p:ph type="sldNum" sz="quarter" idx="12"/>
          </p:nvPr>
        </p:nvSpPr>
        <p:spPr>
          <a:xfrm>
            <a:off x="5690490" y="6291139"/>
            <a:ext cx="811019" cy="503578"/>
          </a:xfrm>
        </p:spPr>
        <p:txBody>
          <a:bodyPr/>
          <a:lstStyle/>
          <a:p>
            <a:pPr>
              <a:spcAft>
                <a:spcPts val="600"/>
              </a:spcAft>
            </a:pPr>
            <a:fld id="{CBABCCC1-BF11-4F37-963E-1BCD5B23FD72}" type="slidenum">
              <a:rPr lang="en-IN" smtClean="0"/>
              <a:pPr>
                <a:spcAft>
                  <a:spcPts val="600"/>
                </a:spcAft>
              </a:pPr>
              <a:t>6</a:t>
            </a:fld>
            <a:endParaRPr lang="en-IN"/>
          </a:p>
        </p:txBody>
      </p:sp>
      <p:pic>
        <p:nvPicPr>
          <p:cNvPr id="3" name="Picture 2">
            <a:extLst>
              <a:ext uri="{FF2B5EF4-FFF2-40B4-BE49-F238E27FC236}">
                <a16:creationId xmlns:a16="http://schemas.microsoft.com/office/drawing/2014/main" id="{0E7DF32C-3A1B-9990-D84D-CBB2BFE674C7}"/>
              </a:ext>
            </a:extLst>
          </p:cNvPr>
          <p:cNvPicPr>
            <a:picLocks noChangeAspect="1"/>
          </p:cNvPicPr>
          <p:nvPr/>
        </p:nvPicPr>
        <p:blipFill>
          <a:blip r:embed="rId3"/>
          <a:stretch>
            <a:fillRect/>
          </a:stretch>
        </p:blipFill>
        <p:spPr>
          <a:xfrm>
            <a:off x="0" y="1"/>
            <a:ext cx="1514650" cy="600076"/>
          </a:xfrm>
          <a:prstGeom prst="rect">
            <a:avLst/>
          </a:prstGeom>
        </p:spPr>
      </p:pic>
      <p:sp>
        <p:nvSpPr>
          <p:cNvPr id="4" name="TextBox 3">
            <a:extLst>
              <a:ext uri="{FF2B5EF4-FFF2-40B4-BE49-F238E27FC236}">
                <a16:creationId xmlns:a16="http://schemas.microsoft.com/office/drawing/2014/main" id="{3FACAD35-2627-4B76-EF22-B8DAC9364E7B}"/>
              </a:ext>
            </a:extLst>
          </p:cNvPr>
          <p:cNvSpPr txBox="1"/>
          <p:nvPr/>
        </p:nvSpPr>
        <p:spPr>
          <a:xfrm>
            <a:off x="1865376" y="1922008"/>
            <a:ext cx="8622792" cy="2542363"/>
          </a:xfrm>
          <a:prstGeom prst="rect">
            <a:avLst/>
          </a:prstGeom>
          <a:noFill/>
        </p:spPr>
        <p:txBody>
          <a:bodyPr wrap="square">
            <a:spAutoFit/>
          </a:bodyPr>
          <a:lstStyle/>
          <a:p>
            <a:pPr>
              <a:lnSpc>
                <a:spcPct val="150000"/>
              </a:lnSpc>
              <a:buNone/>
            </a:pPr>
            <a:r>
              <a:rPr lang="en-US" dirty="0"/>
              <a:t>- Operating System: Windows/Linux</a:t>
            </a:r>
            <a:br>
              <a:rPr lang="en-US" dirty="0"/>
            </a:br>
            <a:r>
              <a:rPr lang="en-US" dirty="0"/>
              <a:t>- Frontend: HTML, CSS, JavaScript</a:t>
            </a:r>
            <a:br>
              <a:rPr lang="en-US" dirty="0"/>
            </a:br>
            <a:r>
              <a:rPr lang="en-US" dirty="0"/>
              <a:t>- Backend: Python (Flask/Django)</a:t>
            </a:r>
            <a:br>
              <a:rPr lang="en-US" dirty="0"/>
            </a:br>
            <a:r>
              <a:rPr lang="en-US" dirty="0"/>
              <a:t>- Database: MySQL</a:t>
            </a:r>
            <a:br>
              <a:rPr lang="en-US" dirty="0"/>
            </a:br>
            <a:r>
              <a:rPr lang="en-US" dirty="0"/>
              <a:t>- Tools: VS Code, Jupyter Notebook</a:t>
            </a:r>
            <a:br>
              <a:rPr lang="en-US" dirty="0"/>
            </a:br>
            <a:r>
              <a:rPr lang="en-US" dirty="0"/>
              <a:t>- Libraries: Pandas, NumPy, Scikit-learn, Matplotlib</a:t>
            </a:r>
          </a:p>
        </p:txBody>
      </p:sp>
      <p:sp>
        <p:nvSpPr>
          <p:cNvPr id="5" name="TextBox 4">
            <a:extLst>
              <a:ext uri="{FF2B5EF4-FFF2-40B4-BE49-F238E27FC236}">
                <a16:creationId xmlns:a16="http://schemas.microsoft.com/office/drawing/2014/main" id="{D2BF66CA-8BFA-FC45-1942-B58B99E35456}"/>
              </a:ext>
            </a:extLst>
          </p:cNvPr>
          <p:cNvSpPr txBox="1"/>
          <p:nvPr/>
        </p:nvSpPr>
        <p:spPr>
          <a:xfrm>
            <a:off x="1865376" y="978408"/>
            <a:ext cx="327692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Software Requirements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408259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971C0-81F7-4F91-37E3-8B3AD8EE3C89}"/>
            </a:ext>
          </a:extLst>
        </p:cNvPr>
        <p:cNvGrpSpPr/>
        <p:nvPr/>
      </p:nvGrpSpPr>
      <p:grpSpPr>
        <a:xfrm>
          <a:off x="0" y="0"/>
          <a:ext cx="0" cy="0"/>
          <a:chOff x="0" y="0"/>
          <a:chExt cx="0" cy="0"/>
        </a:xfrm>
      </p:grpSpPr>
      <p:sp>
        <p:nvSpPr>
          <p:cNvPr id="58" name="Slide Number Placeholder 4">
            <a:extLst>
              <a:ext uri="{FF2B5EF4-FFF2-40B4-BE49-F238E27FC236}">
                <a16:creationId xmlns:a16="http://schemas.microsoft.com/office/drawing/2014/main" id="{6131FD51-D714-D45D-EA17-3A835C35DADD}"/>
              </a:ext>
            </a:extLst>
          </p:cNvPr>
          <p:cNvSpPr>
            <a:spLocks noGrp="1"/>
          </p:cNvSpPr>
          <p:nvPr>
            <p:ph type="sldNum" sz="quarter" idx="12"/>
          </p:nvPr>
        </p:nvSpPr>
        <p:spPr>
          <a:xfrm>
            <a:off x="5690490" y="6291139"/>
            <a:ext cx="811019" cy="503578"/>
          </a:xfrm>
        </p:spPr>
        <p:txBody>
          <a:bodyPr/>
          <a:lstStyle/>
          <a:p>
            <a:pPr>
              <a:spcAft>
                <a:spcPts val="600"/>
              </a:spcAft>
            </a:pPr>
            <a:fld id="{CBABCCC1-BF11-4F37-963E-1BCD5B23FD72}" type="slidenum">
              <a:rPr lang="en-IN" smtClean="0"/>
              <a:pPr>
                <a:spcAft>
                  <a:spcPts val="600"/>
                </a:spcAft>
              </a:pPr>
              <a:t>7</a:t>
            </a:fld>
            <a:endParaRPr lang="en-IN"/>
          </a:p>
        </p:txBody>
      </p:sp>
      <p:pic>
        <p:nvPicPr>
          <p:cNvPr id="3" name="Picture 2">
            <a:extLst>
              <a:ext uri="{FF2B5EF4-FFF2-40B4-BE49-F238E27FC236}">
                <a16:creationId xmlns:a16="http://schemas.microsoft.com/office/drawing/2014/main" id="{C4D41532-C938-6AB5-C2AB-6DED5D8F322D}"/>
              </a:ext>
            </a:extLst>
          </p:cNvPr>
          <p:cNvPicPr>
            <a:picLocks noChangeAspect="1"/>
          </p:cNvPicPr>
          <p:nvPr/>
        </p:nvPicPr>
        <p:blipFill>
          <a:blip r:embed="rId3"/>
          <a:stretch>
            <a:fillRect/>
          </a:stretch>
        </p:blipFill>
        <p:spPr>
          <a:xfrm>
            <a:off x="0" y="1"/>
            <a:ext cx="1514650" cy="600076"/>
          </a:xfrm>
          <a:prstGeom prst="rect">
            <a:avLst/>
          </a:prstGeom>
        </p:spPr>
      </p:pic>
      <p:sp>
        <p:nvSpPr>
          <p:cNvPr id="4" name="TextBox 3">
            <a:extLst>
              <a:ext uri="{FF2B5EF4-FFF2-40B4-BE49-F238E27FC236}">
                <a16:creationId xmlns:a16="http://schemas.microsoft.com/office/drawing/2014/main" id="{B8468CA2-D440-23BE-E820-087CE241210B}"/>
              </a:ext>
            </a:extLst>
          </p:cNvPr>
          <p:cNvSpPr txBox="1"/>
          <p:nvPr/>
        </p:nvSpPr>
        <p:spPr>
          <a:xfrm>
            <a:off x="4615547" y="2598003"/>
            <a:ext cx="3771923" cy="830997"/>
          </a:xfrm>
          <a:prstGeom prst="rect">
            <a:avLst/>
          </a:prstGeom>
          <a:noFill/>
        </p:spPr>
        <p:txBody>
          <a:bodyPr wrap="square">
            <a:spAutoFit/>
          </a:bodyPr>
          <a:lstStyle/>
          <a:p>
            <a:r>
              <a:rPr lang="en-IN" sz="4800" dirty="0"/>
              <a:t>THANK YOU</a:t>
            </a:r>
            <a:endParaRPr lang="en-US" sz="4800" dirty="0"/>
          </a:p>
        </p:txBody>
      </p:sp>
    </p:spTree>
    <p:extLst>
      <p:ext uri="{BB962C8B-B14F-4D97-AF65-F5344CB8AC3E}">
        <p14:creationId xmlns:p14="http://schemas.microsoft.com/office/powerpoint/2010/main" val="3632481271"/>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2054</TotalTime>
  <Words>540</Words>
  <Application>Microsoft Office PowerPoint</Application>
  <PresentationFormat>Widescreen</PresentationFormat>
  <Paragraphs>27</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AI-Based Network Intrusion Detection and Threat Intelligence Dashboard</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5 :  Smart Lighting System Using LDR and Arduino</dc:title>
  <dc:creator>Windows User</dc:creator>
  <cp:lastModifiedBy>SRIVALLI PAGADALA</cp:lastModifiedBy>
  <cp:revision>54</cp:revision>
  <dcterms:created xsi:type="dcterms:W3CDTF">2023-09-14T09:27:58Z</dcterms:created>
  <dcterms:modified xsi:type="dcterms:W3CDTF">2026-10-03T08:13:58Z</dcterms:modified>
</cp:coreProperties>
</file>