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9" r:id="rId5"/>
    <p:sldId id="270" r:id="rId14"/>
    <p:sldId id="271" r:id="rId15"/>
    <p:sldId id="272" r:id="rId16"/>
    <p:sldId id="273" r:id="rId1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01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D0B7C1-73D0-45AC-8085-27C1597D3EBE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8D5F6B-4E5A-495A-8054-68FC7AA5F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816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75d10e128c_0_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" name="Google Shape;65;g275d10e128c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30987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0DDF3-DBE3-6D43-F377-0527825FA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43B3C-E351-31E6-7178-3413A2B07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EFA73-4A25-AA54-F7C0-674E731CC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45479-CC8B-41B1-E74C-7AE1E1A92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1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AD7E5-7326-6E81-B2FA-425A9870B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77BA29-07EA-1E45-2CF7-8799B9F15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9DA59-89CF-8B95-13D2-68F50E890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5CA3C-E5AB-0E52-F55D-D79E7B4F0A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0795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24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38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9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4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05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6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10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98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56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00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52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1"/>
            <a:ext cx="12192000" cy="4864500"/>
          </a:xfrm>
          <a:prstGeom prst="rect">
            <a:avLst/>
          </a:prstGeom>
          <a:solidFill>
            <a:srgbClr val="00336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ctrTitle"/>
          </p:nvPr>
        </p:nvSpPr>
        <p:spPr>
          <a:xfrm>
            <a:off x="835200" y="1252800"/>
            <a:ext cx="10848000" cy="1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835200" y="3021178"/>
            <a:ext cx="10848000" cy="16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9181630" y="5012479"/>
            <a:ext cx="1407133" cy="972503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241388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72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ctrTitle"/>
          </p:nvPr>
        </p:nvSpPr>
        <p:spPr>
          <a:xfrm>
            <a:off x="1112784" y="1185639"/>
            <a:ext cx="9966431" cy="23713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4000" dirty="0"/>
              <a:t>AI-Based Network Intrusion Detection and Threat Intelligence Dashboard</a:t>
            </a:r>
            <a:endParaRPr sz="4000" b="0" dirty="0">
              <a:solidFill>
                <a:srgbClr val="FFFFFF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658706" y="2731626"/>
            <a:ext cx="8901900" cy="2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endParaRPr sz="2600" dirty="0">
              <a:solidFill>
                <a:srgbClr val="B6D7A8"/>
              </a:solidFill>
            </a:endParaRPr>
          </a:p>
          <a:p>
            <a:r>
              <a:rPr lang="en" sz="2600" dirty="0">
                <a:solidFill>
                  <a:srgbClr val="B6D7A8"/>
                </a:solidFill>
              </a:rPr>
              <a:t>    					                                      </a:t>
            </a:r>
            <a:endParaRPr sz="2600" dirty="0">
              <a:solidFill>
                <a:srgbClr val="B6D7A8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AF0E96-CA5F-1106-D0E2-DF92B92C1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665" y="5011626"/>
            <a:ext cx="4396844" cy="15459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C1F363-E253-DB3D-683A-0390AEE1F7BA}"/>
              </a:ext>
            </a:extLst>
          </p:cNvPr>
          <p:cNvSpPr/>
          <p:nvPr/>
        </p:nvSpPr>
        <p:spPr>
          <a:xfrm>
            <a:off x="111760" y="5241919"/>
            <a:ext cx="3596640" cy="138240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527050" indent="-635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SRIVALLI-2520090040</a:t>
            </a:r>
          </a:p>
          <a:p>
            <a:pPr marL="527050" indent="-635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PAVANI-2520090041</a:t>
            </a:r>
          </a:p>
          <a:p>
            <a:pPr marL="527050" indent="-635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KAVYA SREE - 250090143</a:t>
            </a:r>
            <a:endParaRPr lang="en-IN" sz="18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112784" y="3500000"/>
            <a:ext cx="9966431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REVIEW 1</a:t>
            </a:r>
          </a:p>
        </p:txBody>
      </p:sp>
    </p:spTree>
    <p:extLst>
      <p:ext uri="{BB962C8B-B14F-4D97-AF65-F5344CB8AC3E}">
        <p14:creationId xmlns:p14="http://schemas.microsoft.com/office/powerpoint/2010/main" val="3261885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B2553-B8F3-0364-65CD-A16A4986C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 Placeholder 4">
            <a:extLst>
              <a:ext uri="{FF2B5EF4-FFF2-40B4-BE49-F238E27FC236}">
                <a16:creationId xmlns:a16="http://schemas.microsoft.com/office/drawing/2014/main" id="{47819958-211F-D21A-7CA1-EB5983BA7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90490" y="6291139"/>
            <a:ext cx="811019" cy="503578"/>
          </a:xfrm>
        </p:spPr>
        <p:txBody>
          <a:bodyPr/>
          <a:lstStyle/>
          <a:p>
            <a:pPr>
              <a:spcAft>
                <a:spcPts val="600"/>
              </a:spcAft>
            </a:pPr>
            <a:fld id="{CBABCCC1-BF11-4F37-963E-1BCD5B23FD72}" type="slidenum">
              <a:rPr lang="en-IN" smtClean="0"/>
              <a:pPr>
                <a:spcAft>
                  <a:spcPts val="600"/>
                </a:spcAft>
              </a:pPr>
              <a:t>4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796E91-27D0-7A84-52BA-C5E9A9520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2B262E-859E-4EB3-5F60-B71C49BFB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650" y="600077"/>
            <a:ext cx="9238694" cy="595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865636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971C0-81F7-4F91-37E3-8B3AD8EE3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 Placeholder 4">
            <a:extLst>
              <a:ext uri="{FF2B5EF4-FFF2-40B4-BE49-F238E27FC236}">
                <a16:creationId xmlns:a16="http://schemas.microsoft.com/office/drawing/2014/main" id="{6131FD51-D714-D45D-EA17-3A835C35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90490" y="6291139"/>
            <a:ext cx="811019" cy="503578"/>
          </a:xfrm>
        </p:spPr>
        <p:txBody>
          <a:bodyPr/>
          <a:lstStyle/>
          <a:p>
            <a:pPr>
              <a:spcAft>
                <a:spcPts val="600"/>
              </a:spcAft>
            </a:pPr>
            <a:fld id="{CBABCCC1-BF11-4F37-963E-1BCD5B23FD72}" type="slidenum">
              <a:rPr lang="en-IN" smtClean="0"/>
              <a:pPr>
                <a:spcAft>
                  <a:spcPts val="600"/>
                </a:spcAft>
              </a:pPr>
              <a:t>7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D41532-C938-6AB5-C2AB-6DED5D8F3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468CA2-D440-23BE-E820-087CE241210B}"/>
              </a:ext>
            </a:extLst>
          </p:cNvPr>
          <p:cNvSpPr txBox="1"/>
          <p:nvPr/>
        </p:nvSpPr>
        <p:spPr>
          <a:xfrm>
            <a:off x="4615547" y="2598003"/>
            <a:ext cx="37719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/>
              <a:t>THANK YOU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632481271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" name="Slide Number Placeholder 4">
            <a:extLst>
              <a:ext uri="{FF2B5EF4-FFF2-40B4-BE49-F238E27FC236}">
                <a16:creationId xmlns:a16="http://schemas.microsoft.com/office/drawing/2014/main" id="{B8DE0810-7D31-236E-6266-CEE93BFE2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90490" y="6291139"/>
            <a:ext cx="811019" cy="503578"/>
          </a:xfrm>
        </p:spPr>
        <p:txBody>
          <a:bodyPr/>
          <a:lstStyle/>
          <a:p>
            <a:pPr>
              <a:spcAft>
                <a:spcPts val="600"/>
              </a:spcAft>
            </a:pPr>
            <a:fld id="{CBABCCC1-BF11-4F37-963E-1BCD5B23FD72}" type="slidenum">
              <a:rPr lang="en-IN" smtClean="0"/>
              <a:pPr>
                <a:spcAft>
                  <a:spcPts val="600"/>
                </a:spcAft>
              </a:pPr>
              <a:t>6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7DF32C-3A1B-9990-D84D-CBB2BFE67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ACAD35-2627-4B76-EF22-B8DAC9364E7B}"/>
              </a:ext>
            </a:extLst>
          </p:cNvPr>
          <p:cNvSpPr txBox="1"/>
          <p:nvPr/>
        </p:nvSpPr>
        <p:spPr>
          <a:xfrm>
            <a:off x="1300000" y="1500000"/>
            <a:ext cx="96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Data Collection Module: </a:t>
            </a:r>
            <a:r>
              <a:rPr sz="1800"/>
              <a:t>captures network traffic records and security logs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Preprocessing Module: </a:t>
            </a:r>
            <a:r>
              <a:rPr sz="1800"/>
              <a:t>cleans, encodes and normalizes traffic features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Detection Module: </a:t>
            </a:r>
            <a:r>
              <a:rPr sz="1800"/>
              <a:t>ML model classifies traffic as normal or malicious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Database Module: </a:t>
            </a:r>
            <a:r>
              <a:rPr sz="1800"/>
              <a:t>stores traffic, alerts, attack types and threat intelligence in MySQL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Alert Module: </a:t>
            </a:r>
            <a:r>
              <a:rPr sz="1800"/>
              <a:t>generates alerts with severity levels for detected intrusions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Dashboard Module: </a:t>
            </a:r>
            <a:r>
              <a:rPr sz="1800"/>
              <a:t>visualizes attack statistics, trends and threat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BF66CA-8BFA-FC45-1942-B58B99E35456}"/>
              </a:ext>
            </a:extLst>
          </p:cNvPr>
          <p:cNvSpPr txBox="1"/>
          <p:nvPr/>
        </p:nvSpPr>
        <p:spPr>
          <a:xfrm>
            <a:off x="1096000" y="700000"/>
            <a:ext cx="10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" name="Slide Number Placeholder 4">
            <a:extLst>
              <a:ext uri="{FF2B5EF4-FFF2-40B4-BE49-F238E27FC236}">
                <a16:creationId xmlns:a16="http://schemas.microsoft.com/office/drawing/2014/main" id="{B8DE0810-7D31-236E-6266-CEE93BFE2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90490" y="6291139"/>
            <a:ext cx="811019" cy="503578"/>
          </a:xfrm>
        </p:spPr>
        <p:txBody>
          <a:bodyPr/>
          <a:lstStyle/>
          <a:p>
            <a:pPr>
              <a:spcAft>
                <a:spcPts val="600"/>
              </a:spcAft>
            </a:pPr>
            <a:fld id="{CBABCCC1-BF11-4F37-963E-1BCD5B23FD72}" type="slidenum">
              <a:rPr lang="en-IN" smtClean="0"/>
              <a:pPr>
                <a:spcAft>
                  <a:spcPts val="600"/>
                </a:spcAft>
              </a:pPr>
              <a:t>6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7DF32C-3A1B-9990-D84D-CBB2BFE67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ACAD35-2627-4B76-EF22-B8DAC9364E7B}"/>
              </a:ext>
            </a:extLst>
          </p:cNvPr>
          <p:cNvSpPr txBox="1"/>
          <p:nvPr/>
        </p:nvSpPr>
        <p:spPr>
          <a:xfrm>
            <a:off x="1865376" y="1922008"/>
            <a:ext cx="8622792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- Operating System: Windows/Linux</a:t>
            </a:r>
            <a:br>
              <a:rPr lang="en-US" dirty="0"/>
            </a:br>
            <a:r>
              <a:rPr lang="en-US" dirty="0"/>
              <a:t>- Frontend: HTML, CSS, JavaScript</a:t>
            </a:r>
            <a:br>
              <a:rPr lang="en-US" dirty="0"/>
            </a:br>
            <a:r>
              <a:rPr lang="en-US" dirty="0"/>
              <a:t>- Backend: Python (Flask/Django)</a:t>
            </a:r>
            <a:br>
              <a:rPr lang="en-US" dirty="0"/>
            </a:br>
            <a:r>
              <a:rPr lang="en-US" dirty="0"/>
              <a:t>- Database: MySQL</a:t>
            </a:r>
            <a:br>
              <a:rPr lang="en-US" dirty="0"/>
            </a:br>
            <a:r>
              <a:rPr lang="en-US" dirty="0"/>
              <a:t>- Tools: VS Code, Jupyter Notebook</a:t>
            </a:r>
            <a:br>
              <a:rPr lang="en-US" dirty="0"/>
            </a:br>
            <a:r>
              <a:rPr lang="en-US" dirty="0"/>
              <a:t>- Libraries: Pandas, NumPy, Scikit-learn, Matplotlib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BF66CA-8BFA-FC45-1942-B58B99E35456}"/>
              </a:ext>
            </a:extLst>
          </p:cNvPr>
          <p:cNvSpPr txBox="1"/>
          <p:nvPr/>
        </p:nvSpPr>
        <p:spPr>
          <a:xfrm>
            <a:off x="1096000" y="700000"/>
            <a:ext cx="10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– Tables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1146000" y="1500000"/>
          <a:ext cx="9900000" cy="2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000"/>
                <a:gridCol w="7600000"/>
              </a:tblGrid>
              <a:tr h="42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>
                    <a:solidFill>
                      <a:srgbClr val="0A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Key Attributes</a:t>
                      </a:r>
                    </a:p>
                  </a:txBody>
                  <a:tcPr>
                    <a:solidFill>
                      <a:srgbClr val="0A3A6B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user_id (PK), username, email, role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</a:rPr>
                        <a:t>network_traffic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traffic_id (PK), src_ip, dst_ip, protocol, port, packet_size, 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</a:rPr>
                        <a:t>attack_types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attack_type_id (PK), attack_name, description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</a:rPr>
                        <a:t>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alert_id (PK), traffic_id (FK), attack_type_id (FK), severity, status, detected_at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</a:rPr>
                        <a:t>threat_intel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intel_id (PK), ip_address, reputation_score, source, last_seen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</a:rPr>
                        <a:t>incident_logs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log_id (PK), alert_id (FK), user_id (FK), action_taken, resolved_at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" name="Slide Number Placeholder 4">
            <a:extLst>
              <a:ext uri="{FF2B5EF4-FFF2-40B4-BE49-F238E27FC236}">
                <a16:creationId xmlns:a16="http://schemas.microsoft.com/office/drawing/2014/main" id="{B8DE0810-7D31-236E-6266-CEE93BFE2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90490" y="6291139"/>
            <a:ext cx="811019" cy="503578"/>
          </a:xfrm>
        </p:spPr>
        <p:txBody>
          <a:bodyPr/>
          <a:lstStyle/>
          <a:p>
            <a:pPr>
              <a:spcAft>
                <a:spcPts val="600"/>
              </a:spcAft>
            </a:pPr>
            <a:fld id="{CBABCCC1-BF11-4F37-963E-1BCD5B23FD72}" type="slidenum">
              <a:rPr lang="en-IN" smtClean="0"/>
              <a:pPr>
                <a:spcAft>
                  <a:spcPts val="600"/>
                </a:spcAft>
              </a:pPr>
              <a:t>6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7DF32C-3A1B-9990-D84D-CBB2BFE67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ACAD35-2627-4B76-EF22-B8DAC9364E7B}"/>
              </a:ext>
            </a:extLst>
          </p:cNvPr>
          <p:cNvSpPr txBox="1"/>
          <p:nvPr/>
        </p:nvSpPr>
        <p:spPr>
          <a:xfrm>
            <a:off x="1300000" y="1500000"/>
            <a:ext cx="96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network_traffic → alerts: </a:t>
            </a:r>
            <a:r>
              <a:rPr sz="1800"/>
              <a:t>one traffic record can raise one or more alerts (1:N)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attack_types → alerts: </a:t>
            </a:r>
            <a:r>
              <a:rPr sz="1800"/>
              <a:t>one attack type is linked to many alerts (1:N)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alerts → incident_logs: </a:t>
            </a:r>
            <a:r>
              <a:rPr sz="1800"/>
              <a:t>each alert can have multiple response actions (1:N)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users → incident_logs: </a:t>
            </a:r>
            <a:r>
              <a:rPr sz="1800"/>
              <a:t>an analyst can handle many incidents (1:N)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Normalization: </a:t>
            </a:r>
            <a:r>
              <a:rPr sz="1800"/>
              <a:t>tables designed up to 3NF to remove redundancy and keep data consistent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Integrity: </a:t>
            </a:r>
            <a:r>
              <a:rPr sz="1800"/>
              <a:t>primary keys, foreign keys and constraints enforce valid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BF66CA-8BFA-FC45-1942-B58B99E35456}"/>
              </a:ext>
            </a:extLst>
          </p:cNvPr>
          <p:cNvSpPr txBox="1"/>
          <p:nvPr/>
        </p:nvSpPr>
        <p:spPr>
          <a:xfrm>
            <a:off x="1096000" y="700000"/>
            <a:ext cx="10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&amp; Normalization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" name="Slide Number Placeholder 4">
            <a:extLst>
              <a:ext uri="{FF2B5EF4-FFF2-40B4-BE49-F238E27FC236}">
                <a16:creationId xmlns:a16="http://schemas.microsoft.com/office/drawing/2014/main" id="{B8DE0810-7D31-236E-6266-CEE93BFE2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90490" y="6291139"/>
            <a:ext cx="811019" cy="503578"/>
          </a:xfrm>
        </p:spPr>
        <p:txBody>
          <a:bodyPr/>
          <a:lstStyle/>
          <a:p>
            <a:pPr>
              <a:spcAft>
                <a:spcPts val="600"/>
              </a:spcAft>
            </a:pPr>
            <a:fld id="{CBABCCC1-BF11-4F37-963E-1BCD5B23FD72}" type="slidenum">
              <a:rPr lang="en-IN" smtClean="0"/>
              <a:pPr>
                <a:spcAft>
                  <a:spcPts val="600"/>
                </a:spcAft>
              </a:pPr>
              <a:t>6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7DF32C-3A1B-9990-D84D-CBB2BFE67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ACAD35-2627-4B76-EF22-B8DAC9364E7B}"/>
              </a:ext>
            </a:extLst>
          </p:cNvPr>
          <p:cNvSpPr txBox="1"/>
          <p:nvPr/>
        </p:nvSpPr>
        <p:spPr>
          <a:xfrm>
            <a:off x="1300000" y="1500000"/>
            <a:ext cx="96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600"/>
              <a:t>• Top attack types: </a:t>
            </a:r>
            <a:r>
              <a:rPr sz="1600"/>
              <a:t>SELECT attack_name, COUNT(*) FROM alerts JOIN attack_types USING(attack_type_id) GROUP BY attack_name;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600"/>
              <a:t>• High severity alerts: </a:t>
            </a:r>
            <a:r>
              <a:rPr sz="1600"/>
              <a:t>SELECT * FROM alerts WHERE severity = 'High' ORDER BY detected_at DESC;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600"/>
              <a:t>• Suspicious IPs: </a:t>
            </a:r>
            <a:r>
              <a:rPr sz="1600"/>
              <a:t>SELECT src_ip, COUNT(*) FROM network_traffic JOIN alerts USING(traffic_id) GROUP BY src_ip;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600"/>
              <a:t>• Open incidents: </a:t>
            </a:r>
            <a:r>
              <a:rPr sz="1600"/>
              <a:t>SELECT * FROM alerts WHERE status = 'Open';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BF66CA-8BFA-FC45-1942-B58B99E35456}"/>
              </a:ext>
            </a:extLst>
          </p:cNvPr>
          <p:cNvSpPr txBox="1"/>
          <p:nvPr/>
        </p:nvSpPr>
        <p:spPr>
          <a:xfrm>
            <a:off x="1096000" y="700000"/>
            <a:ext cx="10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SQL Queries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2054</TotalTime>
  <Words>540</Words>
  <Application>Microsoft Office PowerPoint</Application>
  <PresentationFormat>Widescreen</PresentationFormat>
  <Paragraphs>27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AI-Based Network Intrusion Detection and Threat Intelligence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5 :  Smart Lighting System Using LDR and Arduino</dc:title>
  <dc:creator>Windows User</dc:creator>
  <cp:lastModifiedBy>SRIVALLI PAGADALA</cp:lastModifiedBy>
  <cp:revision>54</cp:revision>
  <dcterms:created xsi:type="dcterms:W3CDTF">2023-09-14T09:27:58Z</dcterms:created>
  <dcterms:modified xsi:type="dcterms:W3CDTF">2026-10-03T08:13:58Z</dcterms:modified>
</cp:coreProperties>
</file>